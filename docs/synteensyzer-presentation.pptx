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SYNTEENSYZER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Polyphonic Synthesiser on Teensy 4.0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2743200" cy="4572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A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1A — INSA Lyon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7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–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Synteensyzer — INSA Lyon 1A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926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Architecture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383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383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Deep Dive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840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297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Perspectives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20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notes — Switch presets — Record a loop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22860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Synteensyzer — INSA Lyon 1A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real-time polyphonic synthesiser running on a Teensy 4.0 microcontroller.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PC sends MIDI notes over USB, the Teensy computes the sound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outputs it to headphones through an audio codec.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761488"/>
            <a:ext cx="137160" cy="13716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6517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simultaneous polyphonic voices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108960"/>
            <a:ext cx="137160" cy="13716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9992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timbres (sine, organ, electric, pad)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456432"/>
            <a:ext cx="137160" cy="13716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34670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ADSR envelope per voice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803904"/>
            <a:ext cx="137160" cy="13716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69417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echo/delay effect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151376"/>
            <a:ext cx="137160" cy="13716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04164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Looper (record / play / stop)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4498848"/>
            <a:ext cx="137160" cy="13716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4389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button (short / long press)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265176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0F0F5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Teensy 4.0 (ARM 600 MHz)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3447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Shield SGTL5000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37398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/ Arduino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40325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MIDI Protocol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43251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PlatformIO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Synteensyzer — INSA Lyon 1A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0F0F5"/>
          </a:solidFill>
          <a:ln w="12700">
            <a:solidFill>
              <a:srgbClr val="4A4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MIDI Keyboard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(virtual or physical)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2651760"/>
            <a:ext cx="822960" cy="4572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22402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MIDI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1737360"/>
            <a:ext cx="2194560" cy="1920240"/>
          </a:xfrm>
          <a:prstGeom prst="roundRect">
            <a:avLst>
              <a:gd name="adj" fmla="val 4762"/>
            </a:avLst>
          </a:prstGeom>
          <a:solidFill>
            <a:srgbClr val="E2001A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Teensy 4.0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22860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MIDI Reception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DSP Engine (C++)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8-voice polyphony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ADSR + Echo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651760"/>
            <a:ext cx="822960" cy="4572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22402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201168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0F0F5"/>
          </a:solidFill>
          <a:ln w="19050">
            <a:solidFill>
              <a:srgbClr val="2D6A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Shield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49440" y="2560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SGTL5000 DAC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Headphone output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8046720" cy="36576"/>
          </a:xfrm>
          <a:prstGeom prst="rect">
            <a:avLst/>
          </a:prstGeom>
          <a:solidFill>
            <a:srgbClr val="F0F0F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44,100 Hz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samples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3464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Size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MHz ARM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3776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4088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 + 512 KB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088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Synteensyzer — INSA Lyon 1A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Architecture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file = One responsibility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0F0F5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20240"/>
            <a:ext cx="54864" cy="123444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MyDsp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2677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engine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voices + ADSR + Echo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78892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2001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7889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DSP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20440" y="19202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0F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520440" y="1920240"/>
            <a:ext cx="54864" cy="123444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03320" y="22677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&amp; replay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MIDI events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03320" y="278892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2001A"/>
          </a:solidFill>
          <a:ln/>
        </p:spPr>
      </p:sp>
      <p:sp>
        <p:nvSpPr>
          <p:cNvPr id="18" name="Text 16"/>
          <p:cNvSpPr/>
          <p:nvPr/>
        </p:nvSpPr>
        <p:spPr>
          <a:xfrm>
            <a:off x="3703320" y="27889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machine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192024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0F0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1920240"/>
            <a:ext cx="54864" cy="123444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MidiHandler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22677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MIDI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278892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2001A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27889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routing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338328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0F0F5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3383280"/>
            <a:ext cx="54864" cy="123444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3730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Debounced input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short/long press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4400" y="425196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2001A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2519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I/O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520440" y="338328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0F0F5"/>
          </a:solidFill>
          <a:ln/>
        </p:spPr>
      </p:sp>
      <p:sp>
        <p:nvSpPr>
          <p:cNvPr id="32" name="Shape 30"/>
          <p:cNvSpPr/>
          <p:nvPr/>
        </p:nvSpPr>
        <p:spPr>
          <a:xfrm>
            <a:off x="3520440" y="3383280"/>
            <a:ext cx="54864" cy="123444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3" name="Text 31"/>
          <p:cNvSpPr/>
          <p:nvPr/>
        </p:nvSpPr>
        <p:spPr>
          <a:xfrm>
            <a:off x="370332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main.cpp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703320" y="3730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modules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703320" y="425196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2001A"/>
          </a:solidFill>
          <a:ln/>
        </p:spPr>
      </p:sp>
      <p:sp>
        <p:nvSpPr>
          <p:cNvPr id="36" name="Text 34"/>
          <p:cNvSpPr/>
          <p:nvPr/>
        </p:nvSpPr>
        <p:spPr>
          <a:xfrm>
            <a:off x="3703320" y="42519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338328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0F0F5"/>
          </a:solidFill>
          <a:ln/>
        </p:spPr>
      </p:sp>
      <p:sp>
        <p:nvSpPr>
          <p:cNvPr id="38" name="Shape 36"/>
          <p:cNvSpPr/>
          <p:nvPr/>
        </p:nvSpPr>
        <p:spPr>
          <a:xfrm>
            <a:off x="6309360" y="3383280"/>
            <a:ext cx="54864" cy="123444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24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config.h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92240" y="3730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92240" y="425196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2001A"/>
          </a:solidFill>
          <a:ln/>
        </p:spPr>
      </p:sp>
      <p:sp>
        <p:nvSpPr>
          <p:cNvPr id="42" name="Text 40"/>
          <p:cNvSpPr/>
          <p:nvPr/>
        </p:nvSpPr>
        <p:spPr>
          <a:xfrm>
            <a:off x="6492240" y="42519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Synteensyzer — INSA Lyon 1A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Audio Synthesis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0F0"/>
          </a:solidFill>
          <a:ln w="12700">
            <a:solidFill>
              <a:srgbClr val="E200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real-time constraint: update() must complete within 2.9 ms or the audio glitches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Pipeline (per block of 128 samples)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E2001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974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Voices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2788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37360" y="26974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1737360" y="26974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Oscillator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2788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26974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0" y="26974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2788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26974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0" y="26974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2788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03520" y="26974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1A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26974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(delay)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2788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26974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26974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Clip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0" y="2788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</a:rPr>
              <a:t>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80960" y="26974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2D6A9F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0" y="26974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I2S Out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3611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Timbres (Presets)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1520" y="4023360"/>
            <a:ext cx="1920240" cy="594360"/>
          </a:xfrm>
          <a:prstGeom prst="roundRect">
            <a:avLst>
              <a:gd name="adj" fmla="val 9231"/>
            </a:avLst>
          </a:prstGeom>
          <a:solidFill>
            <a:srgbClr val="F0F0F5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023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4297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wavetable lookup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834640" y="4023360"/>
            <a:ext cx="1920240" cy="594360"/>
          </a:xfrm>
          <a:prstGeom prst="roundRect">
            <a:avLst>
              <a:gd name="adj" fmla="val 9231"/>
            </a:avLst>
          </a:prstGeom>
          <a:solidFill>
            <a:srgbClr val="F0F0F5"/>
          </a:solidFill>
          <a:ln/>
        </p:spPr>
      </p:sp>
      <p:sp>
        <p:nvSpPr>
          <p:cNvPr id="34" name="Text 32"/>
          <p:cNvSpPr/>
          <p:nvPr/>
        </p:nvSpPr>
        <p:spPr>
          <a:xfrm>
            <a:off x="2834640" y="4023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834640" y="4297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Additive: f + 2f + 3f + 1.5f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37760" y="4023360"/>
            <a:ext cx="1920240" cy="594360"/>
          </a:xfrm>
          <a:prstGeom prst="roundRect">
            <a:avLst>
              <a:gd name="adj" fmla="val 9231"/>
            </a:avLst>
          </a:prstGeom>
          <a:solidFill>
            <a:srgbClr val="F0F0F5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4023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37760" y="4297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Harmonics + noise transient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40880" y="4023360"/>
            <a:ext cx="1920240" cy="594360"/>
          </a:xfrm>
          <a:prstGeom prst="roundRect">
            <a:avLst>
              <a:gd name="adj" fmla="val 9231"/>
            </a:avLst>
          </a:prstGeom>
          <a:solidFill>
            <a:srgbClr val="F0F0F5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0" y="4023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40880" y="4297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Detuned sines + low-pass filter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Synteensyzer — INSA Lyon 1A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Looper — State Machine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4A4A5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34640" y="182880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E2001A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82880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182880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06040" y="2103120"/>
            <a:ext cx="201168" cy="36576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14173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09160" y="2103120"/>
            <a:ext cx="201168" cy="36576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4173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12280" y="2103120"/>
            <a:ext cx="201168" cy="36576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4173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2926080"/>
            <a:ext cx="8138160" cy="36576"/>
          </a:xfrm>
          <a:prstGeom prst="rect">
            <a:avLst/>
          </a:prstGeom>
          <a:solidFill>
            <a:srgbClr val="B30015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0" y="3017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00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press (3s) → CLEAR → back to EMPTY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4050792"/>
            <a:ext cx="109728" cy="109728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stored as {timestamp, type, note, velocity}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4325112"/>
            <a:ext cx="109728" cy="109728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4251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Replayed in real-time by comparing elapsed time to event timestamps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" y="4599432"/>
            <a:ext cx="109728" cy="109728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28" name="Text 26"/>
          <p:cNvSpPr/>
          <p:nvPr/>
        </p:nvSpPr>
        <p:spPr>
          <a:xfrm>
            <a:off x="1188720" y="4526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 is "frozen" at record start — loop keeps its timbre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" y="4873752"/>
            <a:ext cx="109728" cy="109728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0" name="Text 28"/>
          <p:cNvSpPr/>
          <p:nvPr/>
        </p:nvSpPr>
        <p:spPr>
          <a:xfrm>
            <a:off x="118872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buffer of 2048 events (no dynamic allocation on embedded)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Synteensyzer — INSA Lyon 1A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 / Main Loop Concurrency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FFF0F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20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ISR (every 2.9 ms)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update() reads voices[], preset, echo params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F0F0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974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loop() (continuous)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noteOn/Off/setters write voices[], preset, echo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Same data, no protection = DATA RACE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0" y="192024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0F0F5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201168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__disable_irq();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modify shared state ...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(voices, preset, gain, echo)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__enable_irq();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40233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Teensy Audio Library pattern.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section is tiny (&lt; 1 µs) — no impact on audio latency.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Synteensyzer — INSA Lyon 1A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FFF5F5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54480"/>
            <a:ext cx="54864" cy="64008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554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Monolithic code (400 lines in one file)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17720" y="155448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0" y="1554480"/>
            <a:ext cx="3749040" cy="640080"/>
          </a:xfrm>
          <a:prstGeom prst="roundRect">
            <a:avLst>
              <a:gd name="adj" fmla="val 8571"/>
            </a:avLst>
          </a:prstGeom>
          <a:solidFill>
            <a:srgbClr val="F0FFF0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0" y="1554480"/>
            <a:ext cx="54864" cy="64008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15544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Restructured into 5 focused modules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37744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FF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377440"/>
            <a:ext cx="54864" cy="64008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23774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glitches during note changes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23774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0" y="2377440"/>
            <a:ext cx="3749040" cy="640080"/>
          </a:xfrm>
          <a:prstGeom prst="roundRect">
            <a:avLst>
              <a:gd name="adj" fmla="val 8571"/>
            </a:avLst>
          </a:prstGeom>
          <a:solidFill>
            <a:srgbClr val="F0FFF0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0" y="2377440"/>
            <a:ext cx="54864" cy="64008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23774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ISR protection (__disable_irq / __enable_irq)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20040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FF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200400"/>
            <a:ext cx="54864" cy="64008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2004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Looper lost timbre on preset switch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320040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029200" y="3200400"/>
            <a:ext cx="3749040" cy="640080"/>
          </a:xfrm>
          <a:prstGeom prst="roundRect">
            <a:avLst>
              <a:gd name="adj" fmla="val 8571"/>
            </a:avLst>
          </a:prstGeom>
          <a:solidFill>
            <a:srgbClr val="F0FFF0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3200400"/>
            <a:ext cx="54864" cy="64008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6" name="Text 24"/>
          <p:cNvSpPr/>
          <p:nvPr/>
        </p:nvSpPr>
        <p:spPr>
          <a:xfrm>
            <a:off x="5257800" y="32004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 "freeze" at recording start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" y="402336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FFF5F5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" y="4023360"/>
            <a:ext cx="54864" cy="64008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4023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DSP too slow (powf() called per sample)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17720" y="40233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029200" y="4023360"/>
            <a:ext cx="3749040" cy="640080"/>
          </a:xfrm>
          <a:prstGeom prst="roundRect">
            <a:avLst>
              <a:gd name="adj" fmla="val 8571"/>
            </a:avLst>
          </a:prstGeom>
          <a:solidFill>
            <a:srgbClr val="F0FFF0"/>
          </a:solidFill>
          <a:ln/>
        </p:spPr>
      </p:sp>
      <p:sp>
        <p:nvSpPr>
          <p:cNvPr id="32" name="Shape 30"/>
          <p:cNvSpPr/>
          <p:nvPr/>
        </p:nvSpPr>
        <p:spPr>
          <a:xfrm>
            <a:off x="5029200" y="4023360"/>
            <a:ext cx="54864" cy="64008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3" name="Text 31"/>
          <p:cNvSpPr/>
          <p:nvPr/>
        </p:nvSpPr>
        <p:spPr>
          <a:xfrm>
            <a:off x="5257800" y="40233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 phaseInc in noteOn() — compute once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working polyphonic synthesiser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audio on embedded hardware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modular architecture (5 modules, 800 lines)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468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MIDI-controlled with looper functionality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2743200" cy="36576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0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True stereo output (L/R panning)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069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ADSR controllable via MIDI CC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Loop quantisation (snap to tempo)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PC graphical interface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Synteensyzer — INSA Lyon 1A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Synteensyzer — Real-Time Polyphonic Synthesiser</dc:title>
  <dc:subject>Projet 1A</dc:subject>
  <dc:creator>INSA Lyon</dc:creator>
  <cp:lastModifiedBy>INSA Lyon</cp:lastModifiedBy>
  <cp:revision>1</cp:revision>
  <dcterms:created xsi:type="dcterms:W3CDTF">2026-02-18T21:14:20Z</dcterms:created>
  <dcterms:modified xsi:type="dcterms:W3CDTF">2026-02-18T21:14:20Z</dcterms:modified>
</cp:coreProperties>
</file>